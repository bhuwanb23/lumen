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8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000" b="1">
                <a:solidFill>
                  <a:srgbClr val="BBD7CF"/>
                </a:solidFill>
                <a:latin typeface="Aptos"/>
              </a:defRPr>
            </a:pPr>
            <a:r>
              <a:t>PROJECT OVERVIEW  /  5-MINUTE TALK  /  27 OCTOBER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493776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ptos"/>
              </a:defRPr>
            </a:pPr>
            <a:r>
              <a:t>Lumen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783080"/>
            <a:ext cx="489204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300" b="0">
                <a:solidFill>
                  <a:srgbClr val="DCEAE6"/>
                </a:solidFill>
                <a:latin typeface="Aptos"/>
              </a:defRPr>
            </a:pPr>
            <a:r>
              <a:t>A source-linked companion for pathology-report conversations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834640"/>
            <a:ext cx="4754880" cy="502920"/>
          </a:xfrm>
          <a:prstGeom prst="roundRect">
            <a:avLst/>
          </a:prstGeom>
          <a:solidFill>
            <a:srgbClr val="2C5558"/>
          </a:solidFill>
          <a:ln w="12700">
            <a:solidFill>
              <a:srgbClr val="2C5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999232"/>
            <a:ext cx="44348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ptos"/>
              </a:defRPr>
            </a:pPr>
            <a:r>
              <a:t>SYNTHETIC ONLY   •   ENGLISH ONLY   •   MODEL OFF</a:t>
            </a:r>
          </a:p>
        </p:txBody>
      </p:sp>
      <p:pic>
        <p:nvPicPr>
          <p:cNvPr id="7" name="Picture 6" descr="experien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234440"/>
            <a:ext cx="5852160" cy="210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" y="3886200"/>
            <a:ext cx="10835640" cy="1298448"/>
          </a:xfrm>
          <a:prstGeom prst="roundRect">
            <a:avLst/>
          </a:prstGeom>
          <a:solidFill>
            <a:srgbClr val="254A4D"/>
          </a:solidFill>
          <a:ln w="12700">
            <a:solidFill>
              <a:srgbClr val="254A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33272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Aptos"/>
              </a:defRPr>
            </a:pPr>
            <a:r>
              <a:t>Designed to keep exact source wording visible and support neutral care-team questions. It is a software prototype - not a clinical product.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623560"/>
            <a:ext cx="107899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300" b="1">
                <a:solidFill>
                  <a:srgbClr val="F2D9A8"/>
                </a:solidFill>
                <a:latin typeface="Aptos"/>
              </a:defRPr>
            </a:pPr>
            <a:r>
              <a:t>No live model output • No clinician review • No clinical validation • Not for patient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BBD7CF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DDAA58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2E7D74"/>
                </a:solidFill>
                <a:latin typeface="Aptos"/>
              </a:defRPr>
            </a:pPr>
            <a:r>
              <a:t>01 / CONTEXT AND PATIENT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21792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600" b="1">
                <a:solidFill>
                  <a:srgbClr val="18383E"/>
                </a:solidFill>
                <a:latin typeface="Aptos"/>
              </a:defRPr>
            </a:pPr>
            <a:r>
              <a:t>From technical wording to a grounded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0">
                <a:solidFill>
                  <a:srgbClr val="4B6268"/>
                </a:solidFill>
                <a:latin typeface="Aptos"/>
              </a:defRPr>
            </a:pPr>
            <a:r>
              <a:t>A design hypothesis: source-linked explanations may help prepare questions; impact has not been evaluated.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71848A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2E7D74"/>
                </a:solidFill>
                <a:latin typeface="Aptos"/>
              </a:defRPr>
            </a:pPr>
            <a:r>
              <a:t>02</a:t>
            </a:r>
          </a:p>
        </p:txBody>
      </p:sp>
      <p:pic>
        <p:nvPicPr>
          <p:cNvPr id="7" name="Picture 6" descr="experien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719072"/>
            <a:ext cx="11018520" cy="394106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5760720"/>
            <a:ext cx="10744200" cy="502920"/>
          </a:xfrm>
          <a:prstGeom prst="roundRect">
            <a:avLst/>
          </a:prstGeom>
          <a:solidFill>
            <a:srgbClr val="FFF5E3"/>
          </a:solidFill>
          <a:ln w="12700">
            <a:solidFill>
              <a:srgbClr val="EBD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70448"/>
            <a:ext cx="10332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300" b="1">
                <a:solidFill>
                  <a:srgbClr val="18383E"/>
                </a:solidFill>
                <a:latin typeface="Aptos"/>
              </a:defRPr>
            </a:pPr>
            <a:r>
              <a:t>No diagnosis, prognosis, treatment selection, dosing, trial eligibility or urgent-symptom triage.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2E7D74"/>
                </a:solidFill>
                <a:latin typeface="Aptos"/>
              </a:defRPr>
            </a:pPr>
            <a:r>
              <a:t>02 / PRODUCT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21792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600" b="1">
                <a:solidFill>
                  <a:srgbClr val="18383E"/>
                </a:solidFill>
                <a:latin typeface="Aptos"/>
              </a:defRPr>
            </a:pPr>
            <a:r>
              <a:t>Evidence first; safe stop states included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0">
                <a:solidFill>
                  <a:srgbClr val="4B6268"/>
                </a:solidFill>
                <a:latin typeface="Aptos"/>
              </a:defRPr>
            </a:pPr>
            <a:r>
              <a:t>A fictional source excerpt illustrates the evidence interaction - not a live AI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71848A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2E7D74"/>
                </a:solidFill>
                <a:latin typeface="Aptos"/>
              </a:defRPr>
            </a:pPr>
            <a:r>
              <a:t>03</a:t>
            </a:r>
          </a:p>
        </p:txBody>
      </p:sp>
      <p:pic>
        <p:nvPicPr>
          <p:cNvPr id="7" name="Picture 6" descr="evidence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19072"/>
            <a:ext cx="10808208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5166360"/>
            <a:ext cx="528523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21808"/>
            <a:ext cx="48463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2E7D74"/>
                </a:solidFill>
                <a:latin typeface="Aptos"/>
              </a:defRPr>
            </a:pPr>
            <a:r>
              <a:t>SYNTHETIC SOURCE EXCERPT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14416"/>
            <a:ext cx="48463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18383E"/>
                </a:solidFill>
                <a:latin typeface="Aptos"/>
              </a:defRPr>
            </a:pPr>
            <a:r>
              <a:t>Lung, right upper lobe, biopsy: Adenocarcinoma, acinar pattern.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5166360"/>
            <a:ext cx="5248656" cy="1024128"/>
          </a:xfrm>
          <a:prstGeom prst="roundRect">
            <a:avLst/>
          </a:prstGeom>
          <a:solidFill>
            <a:srgbClr val="FFF5E3"/>
          </a:solidFill>
          <a:ln w="12700">
            <a:solidFill>
              <a:srgbClr val="EBD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321808"/>
            <a:ext cx="48006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9E6B1E"/>
                </a:solidFill>
                <a:latin typeface="Aptos"/>
              </a:defRPr>
            </a:pPr>
            <a:r>
              <a:t>CURRENT DEMO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596128"/>
            <a:ext cx="48006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00" b="1">
                <a:solidFill>
                  <a:srgbClr val="18383E"/>
                </a:solidFill>
                <a:latin typeface="Aptos"/>
              </a:defRPr>
            </a:pPr>
            <a:r>
              <a:t>Provider disabled: live path returns unavailable with no claims. Positive state is a deterministic test fixture.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2E7D74"/>
                </a:solidFill>
                <a:latin typeface="Aptos"/>
              </a:defRPr>
            </a:pPr>
            <a:r>
              <a:t>03 / INFORMATION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21792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600" b="1">
                <a:solidFill>
                  <a:srgbClr val="18383E"/>
                </a:solidFill>
                <a:latin typeface="Aptos"/>
              </a:defRPr>
            </a:pPr>
            <a:r>
              <a:t>A bounded path, with an explicit provider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0">
                <a:solidFill>
                  <a:srgbClr val="4B6268"/>
                </a:solidFill>
                <a:latin typeface="Aptos"/>
              </a:defRPr>
            </a:pPr>
            <a:r>
              <a:t>High-level product architecture; this is not a deployment or compliance certification.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71848A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2E7D74"/>
                </a:solidFill>
                <a:latin typeface="Aptos"/>
              </a:defRPr>
            </a:pPr>
            <a:r>
              <a:t>04</a:t>
            </a:r>
          </a:p>
        </p:txBody>
      </p:sp>
      <p:pic>
        <p:nvPicPr>
          <p:cNvPr id="7" name="Picture 6" descr="data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700784"/>
            <a:ext cx="10945368" cy="3922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5760720"/>
            <a:ext cx="1074420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70448"/>
            <a:ext cx="103327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18383E"/>
                </a:solidFill>
                <a:latin typeface="Aptos"/>
              </a:defRPr>
            </a:pPr>
            <a:r>
              <a:t>No report database or browser storage/URL persistence; if enabled later, external provider processing needs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2E7D74"/>
                </a:solidFill>
                <a:latin typeface="Aptos"/>
              </a:defRPr>
            </a:pPr>
            <a:r>
              <a:t>04 / SAFETY AND 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21792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600" b="1">
                <a:solidFill>
                  <a:srgbClr val="18383E"/>
                </a:solidFill>
                <a:latin typeface="Aptos"/>
              </a:defRPr>
            </a:pPr>
            <a:r>
              <a:t>Controls reduce software risk; they do not prove clinical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0">
                <a:solidFill>
                  <a:srgbClr val="4B6268"/>
                </a:solidFill>
                <a:latin typeface="Aptos"/>
              </a:defRPr>
            </a:pPr>
            <a:r>
              <a:t>No external provider was called. The app is limited to synthetic/de-identified excerpts in this prototype.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71848A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2E7D7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74519"/>
            <a:ext cx="5266944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75688"/>
            <a:ext cx="480060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300" b="1">
                <a:solidFill>
                  <a:srgbClr val="2E7D74"/>
                </a:solidFill>
                <a:latin typeface="Aptos"/>
              </a:defRPr>
            </a:pPr>
            <a:r>
              <a:t>SOURCE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468879"/>
            <a:ext cx="4773168" cy="594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400" b="0">
                <a:solidFill>
                  <a:srgbClr val="18383E"/>
                </a:solidFill>
                <a:latin typeface="Aptos"/>
              </a:defRPr>
            </a:pPr>
            <a:r>
              <a:t>Exact quote and offsets are checked against the submitted 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874519"/>
            <a:ext cx="5266944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75688"/>
            <a:ext cx="480060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300" b="1">
                <a:solidFill>
                  <a:srgbClr val="2E7D74"/>
                </a:solidFill>
                <a:latin typeface="Aptos"/>
              </a:defRPr>
            </a:pPr>
            <a:r>
              <a:t>VERIFY + ABSTAIN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68879"/>
            <a:ext cx="4773168" cy="594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400" b="0">
                <a:solidFill>
                  <a:srgbClr val="18383E"/>
                </a:solidFill>
                <a:latin typeface="Aptos"/>
              </a:defRPr>
            </a:pPr>
            <a:r>
              <a:t>Separate verification; unsupported or malformed output is withheld.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3520439"/>
            <a:ext cx="5266944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721607"/>
            <a:ext cx="480060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300" b="1">
                <a:solidFill>
                  <a:srgbClr val="BE6B58"/>
                </a:solidFill>
                <a:latin typeface="Aptos"/>
              </a:defRPr>
            </a:pPr>
            <a:r>
              <a:t>SCOPE REFUSALS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114800"/>
            <a:ext cx="4773168" cy="594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400" b="0">
                <a:solidFill>
                  <a:srgbClr val="18383E"/>
                </a:solidFill>
                <a:latin typeface="Aptos"/>
              </a:defRPr>
            </a:pPr>
            <a:r>
              <a:t>Fixed boundaries for diagnosis, prognosis, treatment, dose, trials and urgent triage.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3520439"/>
            <a:ext cx="5266944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21607"/>
            <a:ext cx="4800600" cy="2468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300" b="1">
                <a:solidFill>
                  <a:srgbClr val="BE6B58"/>
                </a:solidFill>
                <a:latin typeface="Aptos"/>
              </a:defRPr>
            </a:pPr>
            <a:r>
              <a:t>DATA DISCLOSURE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114800"/>
            <a:ext cx="4773168" cy="594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400" b="0">
                <a:solidFill>
                  <a:srgbClr val="18383E"/>
                </a:solidFill>
                <a:latin typeface="Aptos"/>
              </a:defRPr>
            </a:pPr>
            <a:r>
              <a:t>Provider disabled now; if enabled, text may be processed externally; terms/retention unreviewed.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5321808"/>
            <a:ext cx="10863072" cy="566928"/>
          </a:xfrm>
          <a:prstGeom prst="roundRect">
            <a:avLst/>
          </a:prstGeom>
          <a:solidFill>
            <a:srgbClr val="18383E"/>
          </a:solidFill>
          <a:ln w="12700">
            <a:solidFill>
              <a:srgbClr val="183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468112"/>
            <a:ext cx="10442448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Prompt-injection tests and fail-closed behavior are software checks, not a guarantee against every attack.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2E7D74"/>
                </a:solidFill>
                <a:latin typeface="Aptos"/>
              </a:defRPr>
            </a:pPr>
            <a:r>
              <a:t>05 / EVIDENCE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21792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600" b="1">
                <a:solidFill>
                  <a:srgbClr val="18383E"/>
                </a:solidFill>
                <a:latin typeface="Aptos"/>
              </a:defRPr>
            </a:pPr>
            <a:r>
              <a:t>What is measured - and what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0">
                <a:solidFill>
                  <a:srgbClr val="4B6268"/>
                </a:solidFill>
                <a:latin typeface="Aptos"/>
              </a:defRPr>
            </a:pPr>
            <a:r>
              <a:t>The graphs count synthetic fixtures and automated checks; they are not model performance metrics.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71848A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2E7D74"/>
                </a:solidFill>
                <a:latin typeface="Aptos"/>
              </a:defRPr>
            </a:pPr>
            <a:r>
              <a:t>06</a:t>
            </a:r>
          </a:p>
        </p:txBody>
      </p:sp>
      <p:pic>
        <p:nvPicPr>
          <p:cNvPr id="7" name="Picture 6" descr="dataset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700784"/>
            <a:ext cx="10945368" cy="32735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074920"/>
            <a:ext cx="53035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212080"/>
            <a:ext cx="4937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2E7D74"/>
                </a:solidFill>
                <a:latin typeface="Aptos"/>
              </a:defRPr>
            </a:pPr>
            <a:r>
              <a:t>RED-TEAM INVENTORY  /  FIXTURE COUNTS, NOT PERFORMANCE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" y="5532120"/>
            <a:ext cx="2468880" cy="265176"/>
          </a:xfrm>
          <a:prstGeom prst="rect">
            <a:avLst/>
          </a:prstGeom>
          <a:solidFill>
            <a:srgbClr val="BE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5582412"/>
            <a:ext cx="2432304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8 critical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5532120"/>
            <a:ext cx="923544" cy="265176"/>
          </a:xfrm>
          <a:prstGeom prst="rect">
            <a:avLst/>
          </a:prstGeom>
          <a:solidFill>
            <a:srgbClr val="DDA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5582412"/>
            <a:ext cx="886968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900" b="1">
                <a:solidFill>
                  <a:srgbClr val="18383E"/>
                </a:solidFill>
                <a:latin typeface="Aptos"/>
              </a:defRPr>
            </a:pPr>
            <a:r>
              <a:t>3 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5532120"/>
            <a:ext cx="1545336" cy="265176"/>
          </a:xfrm>
          <a:prstGeom prst="rect">
            <a:avLst/>
          </a:prstGeom>
          <a:solidFill>
            <a:srgbClr val="2E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5582412"/>
            <a:ext cx="15087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ptos"/>
              </a:defRPr>
            </a:pPr>
            <a:r>
              <a:t>5 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943600"/>
            <a:ext cx="4937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0">
                <a:solidFill>
                  <a:srgbClr val="4B6268"/>
                </a:solidFill>
                <a:latin typeface="Aptos"/>
              </a:defRPr>
            </a:pPr>
            <a:r>
              <a:t>16 cases catalogued; no model output evaluated.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5074920"/>
            <a:ext cx="5248656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5212080"/>
            <a:ext cx="48006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2E7D74"/>
                </a:solidFill>
                <a:latin typeface="Aptos"/>
              </a:defRPr>
            </a:pPr>
            <a:r>
              <a:t>AUTOMATED SOFTWARE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5431536"/>
            <a:ext cx="13258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200" b="1">
                <a:solidFill>
                  <a:srgbClr val="18383E"/>
                </a:solidFill>
                <a:latin typeface="Aptos"/>
              </a:defRPr>
            </a:pPr>
            <a:r>
              <a:t>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5815584"/>
            <a:ext cx="14356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900" b="0">
                <a:solidFill>
                  <a:srgbClr val="4B6268"/>
                </a:solidFill>
                <a:latin typeface="Aptos"/>
              </a:defRPr>
            </a:pPr>
            <a:r>
              <a:t>backend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5431536"/>
            <a:ext cx="13258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200" b="1">
                <a:solidFill>
                  <a:srgbClr val="18383E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5815584"/>
            <a:ext cx="14356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900" b="0">
                <a:solidFill>
                  <a:srgbClr val="4B6268"/>
                </a:solidFill>
                <a:latin typeface="Aptos"/>
              </a:defRPr>
            </a:pPr>
            <a:r>
              <a:t>browser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31536"/>
            <a:ext cx="132588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200" b="1">
                <a:solidFill>
                  <a:srgbClr val="18383E"/>
                </a:solidFill>
                <a:latin typeface="Aptos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5815584"/>
            <a:ext cx="14356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900" b="0">
                <a:solidFill>
                  <a:srgbClr val="4B6268"/>
                </a:solidFill>
                <a:latin typeface="Aptos"/>
              </a:defRPr>
            </a:pPr>
            <a:r>
              <a:t>axe violations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062472"/>
            <a:ext cx="48006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0">
                <a:solidFill>
                  <a:srgbClr val="4B6268"/>
                </a:solidFill>
                <a:latin typeface="Aptos"/>
              </a:defRPr>
            </a:pPr>
            <a:r>
              <a:t>Tested states only; not a clinical or model-quality measure.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10896"/>
            <a:ext cx="109728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00" b="1">
                <a:solidFill>
                  <a:srgbClr val="2E7D74"/>
                </a:solidFill>
                <a:latin typeface="Aptos"/>
              </a:defRPr>
            </a:pPr>
            <a:r>
              <a:t>06 / POTENTIAL IMPACT AND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21792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600" b="1">
                <a:solidFill>
                  <a:srgbClr val="18383E"/>
                </a:solidFill>
                <a:latin typeface="Aptos"/>
              </a:defRPr>
            </a:pPr>
            <a:r>
              <a:t>A useful hypothesis - not a proven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0">
                <a:solidFill>
                  <a:srgbClr val="4B6268"/>
                </a:solidFill>
                <a:latin typeface="Aptos"/>
              </a:defRPr>
            </a:pPr>
            <a:r>
              <a:t>Source-linked wording may help someone prepare questions. User benefit, adoption, and clinical impact are unknown.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71848A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2E7D7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28800"/>
            <a:ext cx="528523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57400"/>
            <a:ext cx="4800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E7D74"/>
                </a:solidFill>
                <a:latin typeface="Aptos"/>
              </a:defRPr>
            </a:pPr>
            <a:r>
              <a:t>POTENTIAL CONTRIBUTION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4773168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600" b="0">
                <a:solidFill>
                  <a:srgbClr val="18383E"/>
                </a:solidFill>
                <a:latin typeface="Aptos"/>
              </a:defRPr>
            </a:pPr>
            <a:r>
              <a:t>Keep source wording visible, mark absent facts as ‘not stated’, and offer neutral care-team questions. This intention has not been evaluated with patients.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28800"/>
            <a:ext cx="5285232" cy="1965960"/>
          </a:xfrm>
          <a:prstGeom prst="roundRect">
            <a:avLst/>
          </a:prstGeom>
          <a:solidFill>
            <a:srgbClr val="FFF5E3"/>
          </a:solidFill>
          <a:ln w="12700">
            <a:solidFill>
              <a:srgbClr val="EBD7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2057400"/>
            <a:ext cx="4773168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9E6B1E"/>
                </a:solidFill>
                <a:latin typeface="Aptos"/>
              </a:defRPr>
            </a:pPr>
            <a:r>
              <a:t>FEASIBILITY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487168"/>
            <a:ext cx="4736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500" b="0">
                <a:solidFill>
                  <a:srgbClr val="18383E"/>
                </a:solidFill>
                <a:latin typeface="Aptos"/>
              </a:defRPr>
            </a:pPr>
            <a:r>
              <a:t>Clinical co-design • human-labeled output review • provider/privacy assessment • manual accessibility checks • deployment and abuse controls.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160520"/>
            <a:ext cx="107899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000" b="1">
                <a:solidFill>
                  <a:srgbClr val="2E7D74"/>
                </a:solidFill>
                <a:latin typeface="Aptos"/>
              </a:defRPr>
            </a:pPr>
            <a:r>
              <a:t>PATH BEFORE ANY PATIENT-FACING CONSIDERATION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4599432"/>
            <a:ext cx="254203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818888"/>
            <a:ext cx="224028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18383E"/>
                </a:solidFill>
                <a:latin typeface="Aptos"/>
              </a:defRPr>
            </a:pPr>
            <a:r>
              <a:t>1  Clinical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6432" y="4599432"/>
            <a:ext cx="254203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4818888"/>
            <a:ext cx="224028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18383E"/>
                </a:solidFill>
                <a:latin typeface="Aptos"/>
              </a:defRPr>
            </a:pPr>
            <a:r>
              <a:t>2  Human evaluation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599432"/>
            <a:ext cx="254203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4818888"/>
            <a:ext cx="224028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18383E"/>
                </a:solidFill>
                <a:latin typeface="Aptos"/>
              </a:defRPr>
            </a:pPr>
            <a:r>
              <a:t>3  Privacy + 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9408" y="4599432"/>
            <a:ext cx="254203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5712" y="4818888"/>
            <a:ext cx="224028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18383E"/>
                </a:solidFill>
                <a:latin typeface="Aptos"/>
              </a:defRPr>
            </a:pPr>
            <a:r>
              <a:t>4  Accessibility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" y="5623560"/>
            <a:ext cx="10808208" cy="530352"/>
          </a:xfrm>
          <a:prstGeom prst="roundRect">
            <a:avLst/>
          </a:prstGeom>
          <a:solidFill>
            <a:srgbClr val="18383E"/>
          </a:solidFill>
          <a:ln w="12700">
            <a:solidFill>
              <a:srgbClr val="183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0720"/>
            <a:ext cx="103784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Gate 2 not passed. No patient benefit is claimed; no real patient data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8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1078992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000" b="1">
                <a:solidFill>
                  <a:srgbClr val="BBD7CF"/>
                </a:solidFill>
                <a:latin typeface="Aptos"/>
              </a:defRPr>
            </a:pPr>
            <a:r>
              <a:t>LUMEN  / 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78992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84831"/>
            <a:ext cx="105156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900" b="1">
                <a:solidFill>
                  <a:srgbClr val="DCEAE6"/>
                </a:solidFill>
                <a:latin typeface="Aptos"/>
              </a:defRPr>
            </a:pPr>
            <a:r>
              <a:t>KNOWN: software behavior on synthetic fixtures.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77063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900" b="1">
                <a:solidFill>
                  <a:srgbClr val="F2D9A8"/>
                </a:solidFill>
                <a:latin typeface="Aptos"/>
              </a:defRPr>
            </a:pPr>
            <a:r>
              <a:t>UNKNOWN: model quality, clinical correctness, user outcomes, deployment privacy and retention.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977639"/>
            <a:ext cx="103327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0">
                <a:solidFill>
                  <a:srgbClr val="FFFFFF"/>
                </a:solidFill>
                <a:latin typeface="Aptos"/>
              </a:defRPr>
            </a:pPr>
            <a:r>
              <a:t>Lumen is not for clinical decisions or patient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92040"/>
            <a:ext cx="10332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BBD7CF"/>
                </a:solidFill>
                <a:latin typeface="Aptos"/>
              </a:defRPr>
            </a:pPr>
            <a:r>
              <a:t>4-minute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9264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800" b="1">
                <a:solidFill>
                  <a:srgbClr val="BBD7CF"/>
                </a:solidFill>
                <a:latin typeface="Aptos"/>
              </a:defRPr>
            </a:pPr>
            <a:r>
              <a:t>SYNTHETIC-ONLY  |  MODEL OFF  |  NOT FOR CLINICAL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1">
                <a:solidFill>
                  <a:srgbClr val="DDAA58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Project Overview</dc:title>
  <dc:subject>Five-minute project presentation and four-minute Q&amp;A</dc:subject>
  <dc:creator>Lumen Project Team</dc:creator>
  <cp:keywords>pathology, patient experience, synthetic prototype, source-linked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