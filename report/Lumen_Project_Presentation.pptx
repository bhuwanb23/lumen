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BD7CF"/>
                </a:solidFill>
                <a:latin typeface="Aptos"/>
              </a:defRPr>
            </a:pPr>
            <a:r>
              <a:t>PROJECT OVERVIEW  /  27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493776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"/>
              </a:defRPr>
            </a:pPr>
            <a:r>
              <a:t>Lumen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975104"/>
            <a:ext cx="502920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200" b="0">
                <a:solidFill>
                  <a:srgbClr val="DCEAE6"/>
                </a:solidFill>
                <a:latin typeface="Aptos"/>
              </a:defRPr>
            </a:pPr>
            <a:r>
              <a:t>A source-linked companion for pathology-report wording and care-team conversations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2999232"/>
            <a:ext cx="4389120" cy="484632"/>
          </a:xfrm>
          <a:prstGeom prst="roundRect">
            <a:avLst/>
          </a:prstGeom>
          <a:solidFill>
            <a:srgbClr val="2C5558"/>
          </a:solidFill>
          <a:ln w="12700">
            <a:solidFill>
              <a:srgbClr val="2C5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45536"/>
            <a:ext cx="4114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SYNTHETIC ONLY   •   ENGLISH ONLY   •   MODEL OFF</a:t>
            </a:r>
          </a:p>
        </p:txBody>
      </p:sp>
      <p:pic>
        <p:nvPicPr>
          <p:cNvPr id="7" name="Picture 6" descr="patient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98448"/>
            <a:ext cx="5989320" cy="1801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" y="4645152"/>
            <a:ext cx="10515600" cy="6766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 b="1">
                <a:solidFill>
                  <a:srgbClr val="F2D9A8"/>
                </a:solidFill>
                <a:latin typeface="Aptos"/>
              </a:defRPr>
            </a:pPr>
            <a:r>
              <a:t>A software prototype, not a clinical product. No live model output, clinician review, or patient outcome evaluation has been completed.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BD7CF"/>
                </a:solidFill>
                <a:latin typeface="Aptos"/>
              </a:defRPr>
            </a:pPr>
            <a:r>
              <a:t>SYNTHETIC-ONLY  |  MODEL DISABLED  |  NOT FOR CLINICAL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1">
                <a:solidFill>
                  <a:srgbClr val="DDAA5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E7D74"/>
                </a:solidFill>
                <a:latin typeface="Aptos"/>
              </a:defRPr>
            </a:pPr>
            <a:r>
              <a:t>01 / PATIENT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18383E"/>
                </a:solidFill>
                <a:latin typeface="Aptos"/>
              </a:defRPr>
            </a:pPr>
            <a:r>
              <a:t>Keep the source in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0">
                <a:solidFill>
                  <a:srgbClr val="4B6268"/>
                </a:solidFill>
                <a:latin typeface="Aptos"/>
              </a:defRPr>
            </a:pPr>
            <a:r>
              <a:t>Designed to turn report wording into a better-supported conversation - not a care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71848A"/>
                </a:solidFill>
                <a:latin typeface="Aptos"/>
              </a:defRPr>
            </a:pPr>
            <a:r>
              <a:t>SYNTHETIC-ONLY  |  MODEL DISABLED  |  NOT FOR CLINICAL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1">
                <a:solidFill>
                  <a:srgbClr val="2E7D74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7" name="Picture 6" descr="patient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109728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394960"/>
            <a:ext cx="5257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48463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8383E"/>
                </a:solidFill>
                <a:latin typeface="Aptos"/>
              </a:defRPr>
            </a:pPr>
            <a:r>
              <a:t>Exact source quotes • missing facts stay ‘not stated’ • neutral care-team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394960"/>
            <a:ext cx="5285232" cy="713232"/>
          </a:xfrm>
          <a:prstGeom prst="roundRect">
            <a:avLst/>
          </a:prstGeom>
          <a:solidFill>
            <a:srgbClr val="FFF5E3"/>
          </a:solidFill>
          <a:ln w="12700">
            <a:solidFill>
              <a:srgbClr val="EBD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5532120"/>
            <a:ext cx="48006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8383E"/>
                </a:solidFill>
                <a:latin typeface="Aptos"/>
              </a:defRPr>
            </a:pPr>
            <a:r>
              <a:t>English text only • no uploads/OCR • no diagnosis or treatment advice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E7D74"/>
                </a:solidFill>
                <a:latin typeface="Aptos"/>
              </a:defRPr>
            </a:pPr>
            <a:r>
              <a:t>02 / TRUST AND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18383E"/>
                </a:solidFill>
                <a:latin typeface="Aptos"/>
              </a:defRPr>
            </a:pPr>
            <a:r>
              <a:t>A bounded path with explicit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0">
                <a:solidFill>
                  <a:srgbClr val="4B6268"/>
                </a:solidFill>
                <a:latin typeface="Aptos"/>
              </a:defRPr>
            </a:pPr>
            <a:r>
              <a:t>High-level flow: browser to same-origin service route to evidence/safety checks and a result or abstention.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71848A"/>
                </a:solidFill>
                <a:latin typeface="Aptos"/>
              </a:defRPr>
            </a:pPr>
            <a:r>
              <a:t>SYNTHETIC-ONLY  |  MODEL DISABLED  |  NOT FOR CLINICAL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1">
                <a:solidFill>
                  <a:srgbClr val="2E7D74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7" name="Picture 6" descr="inform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10881360" cy="3904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742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BE6B58"/>
                </a:solidFill>
                <a:latin typeface="Aptos"/>
              </a:defRPr>
            </a:pPr>
            <a:r>
              <a:t>The current provider-disabled path returns no claims. If a provider is enabled later, text may be processed externally; terms and retention need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E7D74"/>
                </a:solidFill>
                <a:latin typeface="Aptos"/>
              </a:defRPr>
            </a:pPr>
            <a:r>
              <a:t>03 / EVIDENCE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18383E"/>
                </a:solidFill>
                <a:latin typeface="Aptos"/>
              </a:defRPr>
            </a:pPr>
            <a:r>
              <a:t>Unsupported wording should not pass 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0">
                <a:solidFill>
                  <a:srgbClr val="4B6268"/>
                </a:solidFill>
                <a:latin typeface="Aptos"/>
              </a:defRPr>
            </a:pPr>
            <a:r>
              <a:t>The intended result path links each displayed statement to source text; live model behavior has not been evaluated.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71848A"/>
                </a:solidFill>
                <a:latin typeface="Aptos"/>
              </a:defRPr>
            </a:pPr>
            <a:r>
              <a:t>SYNTHETIC-ONLY  |  MODEL DISABLED  |  NOT FOR CLINICAL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1">
                <a:solidFill>
                  <a:srgbClr val="2E7D74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7" name="Picture 6" descr="evidence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10927080" cy="3182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394960"/>
            <a:ext cx="1069848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1">
                <a:solidFill>
                  <a:srgbClr val="BE6B58"/>
                </a:solidFill>
                <a:latin typeface="Aptos"/>
              </a:defRPr>
            </a:pPr>
            <a:r>
              <a:t>A matching quote is necessary, not proof of semantic or clinical correctness. The provider remains disabled in this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E7D74"/>
                </a:solidFill>
                <a:latin typeface="Aptos"/>
              </a:defRPr>
            </a:pPr>
            <a:r>
              <a:t>04 / WHAT WE 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18383E"/>
                </a:solidFill>
                <a:latin typeface="Aptos"/>
              </a:defRPr>
            </a:pPr>
            <a:r>
              <a:t>Software checks are not clinical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0">
                <a:solidFill>
                  <a:srgbClr val="4B6268"/>
                </a:solidFill>
                <a:latin typeface="Aptos"/>
              </a:defRPr>
            </a:pPr>
            <a:r>
              <a:t>Counts below are reproducible software/fixture evidence only; they do not measure model quality or patient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71848A"/>
                </a:solidFill>
                <a:latin typeface="Aptos"/>
              </a:defRPr>
            </a:pPr>
            <a:r>
              <a:t>SYNTHETIC-ONLY  |  MODEL DISABLED  |  NOT FOR CLINICAL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1">
                <a:solidFill>
                  <a:srgbClr val="2E7D74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7" name="Picture 6" descr="validation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55648"/>
            <a:ext cx="109728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4718304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82896"/>
            <a:ext cx="4828032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8383E"/>
                </a:solidFill>
                <a:latin typeface="Aptos"/>
              </a:defRPr>
            </a:pPr>
            <a:r>
              <a:t>Measured: 64 backend tests, 10 browser flows, 0 axe violations in tested states, 34/34 exact gold fixture spans.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718304"/>
            <a:ext cx="5212080" cy="987552"/>
          </a:xfrm>
          <a:prstGeom prst="roundRect">
            <a:avLst/>
          </a:prstGeom>
          <a:solidFill>
            <a:srgbClr val="F9EAE6"/>
          </a:solidFill>
          <a:ln w="12700">
            <a:solidFill>
              <a:srgbClr val="E7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882896"/>
            <a:ext cx="48006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8383E"/>
                </a:solidFill>
                <a:latin typeface="Aptos"/>
              </a:defRPr>
            </a:pPr>
            <a:r>
              <a:t>Not measured: model accuracy, unsupported-claim rate, clinical correctness, latency, or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E7D74"/>
                </a:solidFill>
                <a:latin typeface="Aptos"/>
              </a:defRPr>
            </a:pPr>
            <a:r>
              <a:t>05 / POTENTIAL IMPACT AND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18383E"/>
                </a:solidFill>
                <a:latin typeface="Aptos"/>
              </a:defRPr>
            </a:pPr>
            <a:r>
              <a:t>A useful hypothesis - not a proven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0">
                <a:solidFill>
                  <a:srgbClr val="4B6268"/>
                </a:solidFill>
                <a:latin typeface="Aptos"/>
              </a:defRPr>
            </a:pPr>
            <a:r>
              <a:t>Lumen aims to make report wording easier to discuss; user benefit, adoption and clinical impact have not been measured.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71848A"/>
                </a:solidFill>
                <a:latin typeface="Aptos"/>
              </a:defRPr>
            </a:pPr>
            <a:r>
              <a:t>SYNTHETIC-ONLY  |  MODEL DISABLED  |  NOT FOR CLINICAL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1">
                <a:solidFill>
                  <a:srgbClr val="2E7D7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52852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48006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2E7D74"/>
                </a:solidFill>
                <a:latin typeface="Aptos"/>
              </a:defRPr>
            </a:pPr>
            <a:r>
              <a:t>POTENTIAL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78608"/>
            <a:ext cx="475488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 b="0">
                <a:solidFill>
                  <a:srgbClr val="18383E"/>
                </a:solidFill>
                <a:latin typeface="Aptos"/>
              </a:defRPr>
            </a:pPr>
            <a:r>
              <a:t>Keep exact report wording visible, preserve missing information as ‘not stated’, and offer neutral questions for a care-team conversation. This is a design hypothesis; no patient benefit has been demonstrated.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74519"/>
            <a:ext cx="5285232" cy="2148840"/>
          </a:xfrm>
          <a:prstGeom prst="roundRect">
            <a:avLst/>
          </a:prstGeom>
          <a:solidFill>
            <a:srgbClr val="FFF5E3"/>
          </a:solidFill>
          <a:ln w="12700">
            <a:solidFill>
              <a:srgbClr val="EBD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103120"/>
            <a:ext cx="4754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9E6B1E"/>
                </a:solidFill>
                <a:latin typeface="Aptos"/>
              </a:defRPr>
            </a:pPr>
            <a:r>
              <a:t>FEASIBILITY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578608"/>
            <a:ext cx="4736592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0">
                <a:solidFill>
                  <a:srgbClr val="18383E"/>
                </a:solidFill>
                <a:latin typeface="Aptos"/>
              </a:defRPr>
            </a:pPr>
            <a:r>
              <a:t>A synthetic software prototype is tested locally. The provider is off; the positive result is a test fixture. Patient-facing use needs clinical review, human evaluation, privacy/operations and manual accessibility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325112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E7D74"/>
                </a:solidFill>
                <a:latin typeface="Aptos"/>
              </a:defRPr>
            </a:pPr>
            <a:r>
              <a:t>REQUIRED BEFORE ANY PATIENT-FACING CONSIDERATION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36592"/>
            <a:ext cx="25420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919472"/>
            <a:ext cx="347472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E7D7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4882896"/>
            <a:ext cx="1847088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18383E"/>
                </a:solidFill>
                <a:latin typeface="Aptos"/>
              </a:defRPr>
            </a:pPr>
            <a:r>
              <a:t>Clinical co-design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9856" y="4736592"/>
            <a:ext cx="25420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919472"/>
            <a:ext cx="347472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E7D7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4882896"/>
            <a:ext cx="1847088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18383E"/>
                </a:solidFill>
                <a:latin typeface="Aptos"/>
              </a:defRPr>
            </a:pPr>
            <a:r>
              <a:t>Human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4736592"/>
            <a:ext cx="25420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4919472"/>
            <a:ext cx="347472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E7D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4882896"/>
            <a:ext cx="1847088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18383E"/>
                </a:solidFill>
                <a:latin typeface="Aptos"/>
              </a:defRPr>
            </a:pPr>
            <a:r>
              <a:t>Privacy + operations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2832" y="4736592"/>
            <a:ext cx="25420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4919472"/>
            <a:ext cx="347472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E7D7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6" y="4882896"/>
            <a:ext cx="1847088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18383E"/>
                </a:solidFill>
                <a:latin typeface="Aptos"/>
              </a:defRPr>
            </a:pPr>
            <a:r>
              <a:t>Accessibility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897880"/>
            <a:ext cx="10826496" cy="384048"/>
          </a:xfrm>
          <a:prstGeom prst="roundRect">
            <a:avLst/>
          </a:prstGeom>
          <a:solidFill>
            <a:srgbClr val="18383E"/>
          </a:solidFill>
          <a:ln w="12700">
            <a:solidFill>
              <a:srgbClr val="18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989320"/>
            <a:ext cx="10424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No clinical validation or patient benefit is claimed. Current status: Gate 2 not passed; model disabled.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BD7CF"/>
                </a:solidFill>
                <a:latin typeface="Aptos"/>
              </a:defRPr>
            </a:pPr>
            <a:r>
              <a:t>LUMEN  / 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78992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148840"/>
            <a:ext cx="98755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000" b="1">
                <a:solidFill>
                  <a:srgbClr val="DCEAE6"/>
                </a:solidFill>
                <a:latin typeface="Aptos"/>
              </a:defRPr>
            </a:pPr>
            <a:r>
              <a:t>What we know: software behavior on synthetic fixtures.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16352"/>
            <a:ext cx="98755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000" b="1">
                <a:solidFill>
                  <a:srgbClr val="F2D9A8"/>
                </a:solidFill>
                <a:latin typeface="Aptos"/>
              </a:defRPr>
            </a:pPr>
            <a:r>
              <a:t>What we do not know: model quality, clinical correctness, or patient impact.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977639"/>
            <a:ext cx="9875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Lumen is not for clinical decisions or patient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BD7CF"/>
                </a:solidFill>
                <a:latin typeface="Aptos"/>
              </a:defRPr>
            </a:pPr>
            <a:r>
              <a:t>SYNTHETIC-ONLY  |  MODEL DISABLED  |  NOT FOR CLINICAL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1">
                <a:solidFill>
                  <a:srgbClr val="DDAA58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Project Overview</dc:title>
  <dc:subject>Five-minute presentation and four-minute Q&amp;A</dc:subject>
  <dc:creator>Lumen Project Team</dc:creator>
  <cp:keywords>synthetic prototype, source-linked report companion, patient experience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